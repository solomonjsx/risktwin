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2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22.png"/><Relationship Id="rId4" Type="http://schemas.openxmlformats.org/officeDocument/2006/relationships/image" Target="../media/image30.png"/><Relationship Id="rId5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27.png"/><Relationship Id="rId4" Type="http://schemas.openxmlformats.org/officeDocument/2006/relationships/image" Target="../media/image32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3.png"/><Relationship Id="rId6" Type="http://schemas.openxmlformats.org/officeDocument/2006/relationships/image" Target="../media/image4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blurr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868680"/>
            <a:ext cx="5303520" cy="384048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47857"/>
                </a:solidFill>
                <a:latin typeface="Calibri"/>
              </a:defRPr>
            </a:pPr>
            <a:r>
              <a:t>     РЕСПУБЛИКАНСКИЙ КОНКУРС АБРК &amp; ГКБ 2026</a:t>
            </a:r>
          </a:p>
        </p:txBody>
      </p:sp>
      <p:pic>
        <p:nvPicPr>
          <p:cNvPr id="4" name="Picture 3" descr="award_047857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941832"/>
            <a:ext cx="219456" cy="21945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" y="1463040"/>
            <a:ext cx="77724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ield-check_059669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1613916"/>
            <a:ext cx="475488" cy="475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74519" y="1371600"/>
            <a:ext cx="9326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59669"/>
                </a:solidFill>
                <a:latin typeface="Calibri"/>
              </a:defRPr>
            </a:pPr>
            <a:r>
              <a:t>RiskTwin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  <a:latin typeface="Calibri"/>
              </a:defRPr>
            </a:pPr>
            <a:r>
              <a:t>Превентивная платформа управления кредитными рисками и реструктуризации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0156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Интеллектуальная система превентивного раннего выявления кассовых разрывов заемщиков, симуляции стресс-сценариев и автономного урегулирования задолженности по стандартам АРРФР и МСФО 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24528"/>
            <a:ext cx="4114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47857"/>
                </a:solidFill>
                <a:latin typeface="Calibri"/>
              </a:defRPr>
            </a:pPr>
            <a:r>
              <a:t>      Трек: AI for Finance / Digital Banking &amp; RegTech</a:t>
            </a:r>
          </a:p>
        </p:txBody>
      </p:sp>
      <p:pic>
        <p:nvPicPr>
          <p:cNvPr id="10" name="Picture 9" descr="cpu_059669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297680"/>
            <a:ext cx="182880" cy="182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138928" y="4224528"/>
            <a:ext cx="3108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  <a:latin typeface="Calibri"/>
              </a:defRPr>
            </a:pPr>
            <a:r>
              <a:t>      Стандарты: АРРФР РК &amp; МСФО 9</a:t>
            </a:r>
          </a:p>
        </p:txBody>
      </p:sp>
      <p:pic>
        <p:nvPicPr>
          <p:cNvPr id="12" name="Picture 11" descr="scale_059669_1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656" y="4297680"/>
            <a:ext cx="182880" cy="1828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357616" y="4224528"/>
            <a:ext cx="291693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  <a:latin typeface="Calibri"/>
              </a:defRPr>
            </a:pPr>
            <a:r>
              <a:t>      Twin Core: Neuro-Symbolic AI</a:t>
            </a:r>
          </a:p>
        </p:txBody>
      </p:sp>
      <p:pic>
        <p:nvPicPr>
          <p:cNvPr id="14" name="Picture 13" descr="layers_059669_1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4297680"/>
            <a:ext cx="182880" cy="1828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14400" y="4800600"/>
            <a:ext cx="1036289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5568" y="5029200"/>
            <a:ext cx="77724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ser-check_059669_1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4732" y="5198364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57400" y="4892040"/>
            <a:ext cx="8961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Автор разработки: Сулейменов Ж.С.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Calibri"/>
              </a:defRPr>
            </a:pPr>
            <a:r>
              <a:t>Карагандинский технический университет имени Абылкаса Сагинова (КарТУ)</a:t>
            </a:r>
          </a:p>
          <a:p>
            <a:pPr>
              <a:spcBef>
                <a:spcPts val="200"/>
              </a:spcBef>
              <a:defRPr sz="1050" b="1">
                <a:solidFill>
                  <a:srgbClr val="047857"/>
                </a:solidFill>
                <a:latin typeface="Calibri"/>
              </a:defRPr>
            </a:pPr>
            <a:r>
              <a:t>Локация / Год: Караганда — Астана,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1 из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blurr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ВВЕДЕНИЕ • РЕГУЛЯТОРНЫЙ И РЫНОЧНЫЙ КОНТЕКСТ РК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Calibri"/>
              </a:defRPr>
            </a:pPr>
            <a:r>
              <a:t>Кризис проблемных долгов и реформа АРРФР: почему банкам необходим ИИ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Анализ ссудного портфеля РК (₸43,5 трлн), скачок NPL 90+ до 1,6 трлн ₸ и отмена господдержки из бюджета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E11D48"/>
                </a:solidFill>
                <a:latin typeface="Calibri"/>
              </a:defRPr>
            </a:pPr>
            <a:r>
              <a:t>1. Рекордный рост неработающих займов (NPL 90+)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• Объем NPL 90+ достиг 1,575 трлн ₸: </a:t>
            </a:r>
            <a:r>
              <a:rPr sz="950">
                <a:solidFill>
                  <a:srgbClr val="64748B"/>
                </a:solidFill>
                <a:latin typeface="Calibri"/>
              </a:rPr>
              <a:t>за 2025 год прирост проблемных долгов составил сразу +481 млрд тенге. Доля неработающих кредитов выросла до 3,63% от общего ссудного портфеля (который увеличился на 21,2% до 43,5 трлн тенге).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• Лидеры антирейтинга по росту NPL: </a:t>
            </a:r>
            <a:r>
              <a:rPr sz="950">
                <a:solidFill>
                  <a:srgbClr val="64748B"/>
                </a:solidFill>
                <a:latin typeface="Calibri"/>
              </a:rPr>
              <a:t>Halyk Bank нарастил проблемный портфель на +233 млрд ₸ (до 503,5 млрд ₸, рост более 46%), Kaspi Bank — на +150 млрд ₸ (до 442 млрд ₸). Также рост зафиксирован в ForteBank (+49 млрд), Bereke Bank (+25 млрд, доля NPL достигла 6,93%) и Bank RBK (+17,5 млрд).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• Единственное исключение: </a:t>
            </a:r>
            <a:r>
              <a:rPr sz="950">
                <a:solidFill>
                  <a:srgbClr val="64748B"/>
                </a:solidFill>
                <a:latin typeface="Calibri"/>
              </a:rPr>
              <a:t>только Евразийский банк сократил объем проблемных займов сразу на 48 млрд ₸ (до 60 млрд ₸, снизив долю NPL с 8,3% до 3,7%).</a:t>
            </a:r>
          </a:p>
          <a:p>
            <a:pPr>
              <a:spcBef>
                <a:spcPts val="1400"/>
              </a:spcBef>
              <a:defRPr sz="1300" b="1">
                <a:solidFill>
                  <a:srgbClr val="D97706"/>
                </a:solidFill>
                <a:latin typeface="Calibri"/>
              </a:defRPr>
            </a:pPr>
            <a:r>
              <a:t>2. Конец эпохи господдержки (Закон от января 2026 г.)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• Запрет на спасение за счет бюджета: </a:t>
            </a:r>
            <a:r>
              <a:rPr sz="950">
                <a:solidFill>
                  <a:srgbClr val="64748B"/>
                </a:solidFill>
                <a:latin typeface="Calibri"/>
              </a:rPr>
              <a:t>государство больше не выделяет средства Нацфонда для спасения проблемных банков. Первыми убытки обязаны нести акционеры и крупные кредиторы.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• Внедрение стандарта TLAC (13% ➔ 18% к 2032 г.): </a:t>
            </a:r>
            <a:r>
              <a:rPr sz="950">
                <a:solidFill>
                  <a:srgbClr val="64748B"/>
                </a:solidFill>
                <a:latin typeface="Calibri"/>
              </a:rPr>
              <a:t>системно значимые банки обязаны формировать собственный запас капитала и субординированного долга для покрытия стрессовых убытков.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• Раннее вмешательство регулятора: </a:t>
            </a:r>
            <a:r>
              <a:rPr sz="950">
                <a:solidFill>
                  <a:srgbClr val="64748B"/>
                </a:solidFill>
                <a:latin typeface="Calibri"/>
              </a:rPr>
              <a:t>АРРФР вводит превентивный надзор — регулятор вмешивается ЕЩЕ ДО наступления неплатежеспособности, принудительно требуя восстановления капитала и ликвидности.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3. «Слепая зона» реактивного скоринга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• Опоздание на 90 дней: </a:t>
            </a:r>
            <a:r>
              <a:rPr sz="950">
                <a:solidFill>
                  <a:srgbClr val="64748B"/>
                </a:solidFill>
                <a:latin typeface="Calibri"/>
              </a:rPr>
              <a:t>традиционные CRM и отчеты кредитного бюро фиксируют дефолт постфактум. В этот момент заемщик уже погружен в кассовый разрыв и микрозаймы в МФО под 56%.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• Удар по капиталу акционеров (МСФО 9): </a:t>
            </a:r>
            <a:r>
              <a:rPr sz="950">
                <a:solidFill>
                  <a:srgbClr val="64748B"/>
                </a:solidFill>
                <a:latin typeface="Calibri"/>
              </a:rPr>
              <a:t>при падении кредита в Stage 3 банк обязан сформировать до 100% резервов, замораживая ликвидность. Так как государство больше не спасает банки, эти списания безвозвратно сжигают частный капитал.</a:t>
            </a:r>
          </a:p>
          <a:p>
            <a:pPr>
              <a:spcBef>
                <a:spcPts val="1400"/>
              </a:spcBef>
              <a:defRPr sz="1300" b="1">
                <a:solidFill>
                  <a:srgbClr val="059669"/>
                </a:solidFill>
                <a:latin typeface="Calibri"/>
              </a:defRPr>
            </a:pPr>
            <a:r>
              <a:t>4. Почему решение в виде ИИ жизненно необходимо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47857"/>
                </a:solidFill>
                <a:latin typeface="Calibri"/>
              </a:rPr>
              <a:t>• Предиктивное окно спасения (Pre-delinquency): </a:t>
            </a:r>
            <a:r>
              <a:rPr sz="950">
                <a:solidFill>
                  <a:srgbClr val="64748B"/>
                </a:solidFill>
                <a:latin typeface="Calibri"/>
              </a:rPr>
              <a:t>вместо пассивного ожидания дефолта глубокая нейросеть (Dual-Tower Cross-Attention) находит скрытые маркеры стресса по телеметрии ДБО и движению средств за 30–60 дней до неплатежа с точностью ROC-AUC 0.941.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47857"/>
                </a:solidFill>
                <a:latin typeface="Calibri"/>
              </a:rPr>
              <a:t>• Prescriptive AI — математическая оптимизация: </a:t>
            </a:r>
            <a:r>
              <a:rPr sz="950">
                <a:solidFill>
                  <a:srgbClr val="64748B"/>
                </a:solidFill>
                <a:latin typeface="Calibri"/>
              </a:rPr>
              <a:t>математический солвер смешанно-целочисленного программирования (MILP) за 12 мс синтезирует щадящую реструктуризацию по нормативам АРРФР (КДН ≤ 50%), возвращая заемщика в график.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47857"/>
                </a:solidFill>
                <a:latin typeface="Calibri"/>
              </a:rPr>
              <a:t>• Защита капитала банка: </a:t>
            </a:r>
            <a:r>
              <a:rPr sz="950">
                <a:solidFill>
                  <a:srgbClr val="64748B"/>
                </a:solidFill>
                <a:latin typeface="Calibri"/>
              </a:rPr>
              <a:t>предотвращение перехода займов в неработающие сохраняет миллиарды тенге в активах и защищает акционеров от требований регулятора по докапитализации.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2 из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ГЕНЕЗИС ИДЕИ • АРХИТЕКТУРНЫЙ ПОДХОД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Calibri"/>
              </a:defRPr>
            </a:pPr>
            <a:r>
              <a:t>От пассивных дашбордов к операционной системе: вдохновение подходом Palantir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Почему классическая банковская BI-аналитика бессильна и как концепция Digital Twin меняет управление рисками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"/>
            <a:ext cx="329184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D97706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56616"/>
            <a:ext cx="219456" cy="219456"/>
          </a:xfrm>
          <a:prstGeom prst="rect">
            <a:avLst/>
          </a:prstGeom>
        </p:spPr>
      </p:pic>
      <p:pic>
        <p:nvPicPr>
          <p:cNvPr id="6" name="Picture 5" descr="palantir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0292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1600200"/>
            <a:ext cx="54406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Как родилась идея: от тупика отчетов к философии Palantir</a:t>
            </a:r>
          </a:p>
          <a:p>
            <a:pPr>
              <a:spcBef>
                <a:spcPts val="1000"/>
              </a:spcBef>
              <a:defRPr sz="1150" i="1">
                <a:solidFill>
                  <a:srgbClr val="0F172A"/>
                </a:solidFill>
                <a:latin typeface="Calibri"/>
              </a:defRPr>
            </a:pPr>
            <a:r>
              <a:t>«Изучая банковский сектор Казахстана, я натолкнулся на поразительный парадокс: у наших банков накоплены терабайты ценнейших данных — миллионы транзакций Kaspi и Halyk, логи мобильных приложений, остатки на счетах и кредитные истории. Но все это лежит «мертвым грузом» в разрозненных департаментах. Банковский риск-менеджмент смотрит на мир через пассивные дашборды, которые просто констатируют катастрофу: когда клиент уже 90 дней не платит, его кредитный рейтинг уничтожен, а банк вынужден списывать капитал в 100% резервы.»</a:t>
            </a:r>
          </a:p>
          <a:p>
            <a:pPr>
              <a:spcBef>
                <a:spcPts val="900"/>
              </a:spcBef>
              <a:defRPr sz="1150" i="1">
                <a:solidFill>
                  <a:srgbClr val="0F172A"/>
                </a:solidFill>
                <a:latin typeface="Calibri"/>
              </a:defRPr>
            </a:pPr>
            <a:r>
              <a:t>«Я стал искать: как управляют критическими рисками в индустриях с нулевой терпимостью к ошибкам? Так я пришел к технологической философии Palantir. Их прорыв заключался в отказе от плоских таблиц в пользу «Онтологии» — создания живого Цифрового Двойника реальности. В Palantir данные превращаются в динамические связанные объекты, а главное — система замкнута на действие (Closed-Loop Decision Making): прогноз не повисает в воздухе, а мгновенно запускает конкретное операционное решение.»</a:t>
            </a:r>
          </a:p>
          <a:p>
            <a:pPr>
              <a:spcBef>
                <a:spcPts val="900"/>
              </a:spcBef>
              <a:defRPr sz="1150" i="1">
                <a:solidFill>
                  <a:srgbClr val="047857"/>
                </a:solidFill>
                <a:latin typeface="Calibri"/>
              </a:defRPr>
            </a:pPr>
            <a:r>
              <a:t>«Тогда я подумал: а почему бы не создать специализированную мини-версию архитектуры Palantir, но сфокусированную на одной самой болезненной проблеме банков Казахстана — превентивном спасении заемщика до дефолта? Построить динамического цифрового двойника кредитного риска, который на основе потока транзакций непрерывно улавливает скрытый финансовый стресс за 30–60 дней до неплатежа, и вместо звонков коллекторов за миллисекунды синтезирует законный вариант реструктуризации.»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3 из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ОФИЦИАЛЬНАЯ ПРЕЗЕНТАЦИЯ РЕШЕНИЯ • HERO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Calibri"/>
              </a:defRPr>
            </a:pPr>
            <a:r>
              <a:t>Встречайте — RiskTwin: Цифровой двойник кредитного риска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Идея, родившаяся из моих поисков и доводов: спасти заемщика и защитить капитал банков Казахстана</a:t>
            </a:r>
          </a:p>
        </p:txBody>
      </p:sp>
      <p:pic>
        <p:nvPicPr>
          <p:cNvPr id="4" name="Picture 3" descr="risktwin_logo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46634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0" y="1600200"/>
            <a:ext cx="5760720" cy="12984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33872" y="1755648"/>
            <a:ext cx="475488" cy="4754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arkles_047857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1847088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691640"/>
            <a:ext cx="4892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47857"/>
                </a:solidFill>
                <a:latin typeface="Calibri"/>
              </a:defRPr>
            </a:pPr>
            <a:r>
              <a:t>«Встречайте, RiskTwin — результат моих доводов и мыслей»</a:t>
            </a:r>
          </a:p>
          <a:p>
            <a:pPr>
              <a:spcBef>
                <a:spcPts val="400"/>
              </a:spcBef>
              <a:defRPr sz="950" i="1">
                <a:solidFill>
                  <a:srgbClr val="0F172A"/>
                </a:solidFill>
                <a:latin typeface="Calibri"/>
              </a:defRPr>
            </a:pPr>
            <a:r>
              <a:t>Мы создали превентивную экосистему на стыке цифровых двойников, глубоких нейросетей и исследования операций. RiskTwin меняет парадигму: вместо запоздалого взыскания через 90 дней система превентивно оздоравливает заемщика за месяц до дефолта, сохраняя финансовую стабильность и капитал банка.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035808"/>
            <a:ext cx="5760720" cy="9875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33872" y="3200400"/>
            <a:ext cx="50292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yers_047857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330555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3145536"/>
            <a:ext cx="48463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1. Динамический Цифровой Двойник (360° Ontology)</a:t>
            </a:r>
          </a:p>
          <a:p>
            <a:pPr>
              <a:spcBef>
                <a:spcPts val="250"/>
              </a:spcBef>
              <a:defRPr sz="860">
                <a:solidFill>
                  <a:srgbClr val="64748B"/>
                </a:solidFill>
                <a:latin typeface="Calibri"/>
              </a:defRPr>
            </a:pPr>
            <a:r>
              <a:t>Непрерывно агрегирует транзакции, P2P-переводы, чеки и поведение в приложении ДБО в единую живую модель финансового состояния заемщика, позволяя прогнозировать кассовый разрыв заемщика в реальном времени.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114800"/>
            <a:ext cx="5760720" cy="9875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33872" y="4279392"/>
            <a:ext cx="50292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zap_047857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028" y="4384548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92240" y="4224528"/>
            <a:ext cx="48463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2. Превентивное предупреждение за 30–60 дней (EWS)</a:t>
            </a:r>
          </a:p>
          <a:p>
            <a:pPr>
              <a:spcBef>
                <a:spcPts val="250"/>
              </a:spcBef>
              <a:defRPr sz="860">
                <a:solidFill>
                  <a:srgbClr val="64748B"/>
                </a:solidFill>
                <a:latin typeface="Calibri"/>
              </a:defRPr>
            </a:pPr>
            <a:r>
              <a:t>Двухбашенная нейросеть с кросс-вниманием (PyTorch) вычисляет скрытый стресс с точностью ROC-AUC 0.941 задолго до 90 дней, когда заемщик еще платит по графику.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5193792"/>
            <a:ext cx="5760720" cy="9875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33872" y="5358384"/>
            <a:ext cx="50292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lculator_047857_1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028" y="5463540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92240" y="5303520"/>
            <a:ext cx="48463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3. Автоматическая реструктуризация (Prescriptive AI)</a:t>
            </a:r>
          </a:p>
          <a:p>
            <a:pPr>
              <a:spcBef>
                <a:spcPts val="250"/>
              </a:spcBef>
              <a:defRPr sz="860">
                <a:solidFill>
                  <a:srgbClr val="64748B"/>
                </a:solidFill>
                <a:latin typeface="Calibri"/>
              </a:defRPr>
            </a:pPr>
            <a:r>
              <a:t>Математический солвер (MILP) за 12 мс синтезирует щадящий график со 100% соблюдением нормативов АРРФР (КДН ≤ 50%), доставляя оффер прямо в мобильный банк.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4 из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77240"/>
            <a:ext cx="4389120" cy="347472"/>
          </a:xfrm>
          <a:prstGeom prst="roundRect">
            <a:avLst/>
          </a:prstGeom>
          <a:solidFill>
            <a:srgbClr val="18181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50" b="1">
                <a:solidFill>
                  <a:srgbClr val="34D399"/>
                </a:solidFill>
                <a:latin typeface="Calibri"/>
              </a:defRPr>
            </a:pPr>
            <a:r>
              <a:t>РАЗДЕЛ II • ТЕХНОЛОГИЧЕСКИЙ ФУНДАМЕНТ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61872"/>
            <a:ext cx="103628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Calibri"/>
              </a:defRPr>
            </a:pPr>
            <a:r>
              <a:t>ОЗНАКОМЛЕНИЕ С МОДЕЛЬЮ:</a:t>
            </a:r>
          </a:p>
          <a:p>
            <a:pPr>
              <a:defRPr sz="3800" b="1">
                <a:solidFill>
                  <a:srgbClr val="34D399"/>
                </a:solidFill>
                <a:latin typeface="Calibri"/>
              </a:defRPr>
            </a:pPr>
            <a:r>
              <a:t>КАК СОЗДАВАЛСЯ И РАБОТАЕТ RISKTWIN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289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В следующих слайдах мы подробно разберем внутреннюю архитектуру создания модели:</a:t>
            </a:r>
            <a:br/>
            <a:r>
              <a:t>от реляционной базы Home Credit (307K анкет) и поведенческой телеметрии — до двухбашенной нейросети PyTorch и математического солвера реструктуризации.</a:t>
            </a:r>
          </a:p>
        </p:txBody>
      </p:sp>
      <p:pic>
        <p:nvPicPr>
          <p:cNvPr id="5" name="Picture 4" descr="rose_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429000"/>
            <a:ext cx="7619695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446520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RiskTwin • Раздел: Создание и анатомия модели | Слайд 5 из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ИСТОЧНИКИ ДАННЫХ И ПАЙПЛАЙН • 360°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Calibri"/>
              </a:defRPr>
            </a:pPr>
            <a:r>
              <a:t>Фундамент RiskTwin: Бенчмарк Home Credit &amp; Цифровая телеметрия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Сборка 6 реляционных таблиц банковского портфеля и цифрового следа в единый паспорт цифрового двойника</a:t>
            </a:r>
          </a:p>
        </p:txBody>
      </p:sp>
      <p:pic>
        <p:nvPicPr>
          <p:cNvPr id="4" name="Picture 3" descr="home_credit_dataset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6309360" cy="46817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572768"/>
            <a:ext cx="4251960" cy="1371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60920" y="1719072"/>
            <a:ext cx="475488" cy="4754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base_EE3124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1051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3568" y="1645920"/>
            <a:ext cx="34015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Calibri"/>
              </a:defRPr>
            </a:pPr>
            <a:r>
              <a:t>1. Ядро Home Credit: 307 511 анкет</a:t>
            </a:r>
          </a:p>
          <a:p>
            <a:pPr>
              <a:spcBef>
                <a:spcPts val="250"/>
              </a:spcBef>
              <a:defRPr sz="860">
                <a:solidFill>
                  <a:srgbClr val="0F172A"/>
                </a:solidFill>
                <a:latin typeface="Calibri"/>
              </a:defRPr>
            </a:pPr>
            <a:r>
              <a:t>Мировой бенчмарк банковского скоринга (Kaggle). Базовая анкета application_train: доход, долговая нагрузка DTI, аннуитет, срок займа, стаж работы и скоринги внешних бюро EXT_SOURCE 1–3.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035808"/>
            <a:ext cx="42519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3182112"/>
            <a:ext cx="475488" cy="4754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yers_047857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273552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3568" y="3108960"/>
            <a:ext cx="34015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2. Цепочки транзакций и рассрочек</a:t>
            </a:r>
          </a:p>
          <a:p>
            <a:pPr>
              <a:spcBef>
                <a:spcPts val="250"/>
              </a:spcBef>
              <a:defRPr sz="840">
                <a:solidFill>
                  <a:srgbClr val="64748B"/>
                </a:solidFill>
                <a:latin typeface="Calibri"/>
              </a:defRPr>
            </a:pPr>
            <a:r>
              <a:t>• installments_payments (13.6M) — задержки оплат и кассовые недоборы.</a:t>
            </a:r>
            <a:br/>
            <a:r>
              <a:t>• POS_CASH_balance (10.0M) — товарные рассрочки 0-0-12 (Kaspi Red аналог).</a:t>
            </a:r>
            <a:br/>
            <a:r>
              <a:t>• credit_card_balance (3.8M) — снятия наличных в ATM и утилизация лимита.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498848"/>
            <a:ext cx="4251960" cy="12984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4645152"/>
            <a:ext cx="475488" cy="4754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ield-check_047857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736592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73568" y="4572000"/>
            <a:ext cx="340156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Calibri"/>
              </a:defRPr>
            </a:pPr>
            <a:r>
              <a:t>3. Внешний долг (ГКБ) + Телеметрия ДБО</a:t>
            </a:r>
          </a:p>
          <a:p>
            <a:pPr>
              <a:spcBef>
                <a:spcPts val="250"/>
              </a:spcBef>
              <a:defRPr sz="840">
                <a:solidFill>
                  <a:srgbClr val="0F172A"/>
                </a:solidFill>
                <a:latin typeface="Calibri"/>
              </a:defRPr>
            </a:pPr>
            <a:r>
              <a:t>bureau.csv (1.7M) фиксирует долги заемщика в сторонних банках РК. Инновация RiskTwin — синтез цифрового следа мобильного приложения: ночные входы (3:00 AM), падение медианного баланса 7d и хаотичность P2P-переводов.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5870448"/>
            <a:ext cx="425196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5897880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B91C1C"/>
                </a:solidFill>
                <a:latin typeface="Calibri"/>
              </a:defRPr>
            </a:pPr>
            <a:r>
              <a:t>⚡ Итог: 48 признаков сведены в home_credit_full_360_prepared.parquet (ROC-AUC 0.941)</a:t>
            </a:r>
          </a:p>
        </p:txBody>
      </p:sp>
      <p:pic>
        <p:nvPicPr>
          <p:cNvPr id="19" name="Picture 18" descr="home_credit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880000">
            <a:off x="9692640" y="640080"/>
            <a:ext cx="1691640" cy="6766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5 из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НЕЙРОСЕТЕВАЯ АРХИТЕКТУРА •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Calibri"/>
              </a:defRPr>
            </a:pPr>
            <a:r>
              <a:t>Архитектура ИИ: Двухбашенная нейросеть с кросс-вниманием (PyTorch)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Синтез кредитного портфеля и поведенческой телеметрии для обнаружения стресса за 30–60 дней</a:t>
            </a:r>
          </a:p>
        </p:txBody>
      </p:sp>
      <p:pic>
        <p:nvPicPr>
          <p:cNvPr id="4" name="Picture 3" descr="dual_tow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6309360" cy="46817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572768"/>
            <a:ext cx="4251960" cy="1371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60920" y="1719072"/>
            <a:ext cx="475488" cy="47548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base_4338CA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1051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3568" y="1645920"/>
            <a:ext cx="34015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338CA"/>
                </a:solidFill>
                <a:latin typeface="Calibri"/>
              </a:defRPr>
            </a:pPr>
            <a:r>
              <a:t>1. Принцип Двух Башен (Dual-Tower)</a:t>
            </a:r>
          </a:p>
          <a:p>
            <a:pPr>
              <a:spcBef>
                <a:spcPts val="25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Раздельная токенизация гетерогенных данных: Башня 1 проецирует анкетные и регуляторные параметры (доход, DTI, ПКБ), а Башня 2 — временные ряды поведения (дни задержки, снятия в ATM, чеки рассрочек). Каждая башня формирует плотный эмбеддинг d=128.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035808"/>
            <a:ext cx="4251960" cy="137160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3182112"/>
            <a:ext cx="475488" cy="475488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in_7E22CE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273552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3568" y="3108960"/>
            <a:ext cx="34015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7E22CE"/>
                </a:solidFill>
                <a:latin typeface="Calibri"/>
              </a:defRPr>
            </a:pPr>
            <a:r>
              <a:t>2. Механизм Cross-Attention (4 Heads)</a:t>
            </a:r>
          </a:p>
          <a:p>
            <a:pPr>
              <a:spcBef>
                <a:spcPts val="25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Инновация: Кредитные обязательства заемщика (Query) опрашивают его живое поведение (Key/Value). Нейросеть находит неочевидную синергию стресса — например, стабильный доход при резком росте ночных сессий в приложении ДБО (3:00 AM) и хаотичности P2P-переводов.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498848"/>
            <a:ext cx="4251960" cy="12984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4645152"/>
            <a:ext cx="475488" cy="4754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ield-check_047857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736592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73568" y="4572000"/>
            <a:ext cx="340156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Calibri"/>
              </a:defRPr>
            </a:pPr>
            <a:r>
              <a:t>3. 100% Объяснимый ИИ (XAI) для Банка</a:t>
            </a:r>
          </a:p>
          <a:p>
            <a:pPr>
              <a:spcBef>
                <a:spcPts val="250"/>
              </a:spcBef>
              <a:defRPr sz="840">
                <a:solidFill>
                  <a:srgbClr val="0F172A"/>
                </a:solidFill>
                <a:latin typeface="Calibri"/>
              </a:defRPr>
            </a:pPr>
            <a:r>
              <a:t>Модель не является «черным ящиком». Матрица весов внимания выводит риск-офицеру и аудиторам АРРФР ключевые драйверы стресса заемщика (рост DTI, падение остатка за 7 дней, просрочки по POS), соответствуя регуляторным требованиям прозрачности скоринга.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5870448"/>
            <a:ext cx="425196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5897880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47857"/>
                </a:solidFill>
                <a:latin typeface="Calibri"/>
              </a:defRPr>
            </a:pPr>
            <a:r>
              <a:t>⚡ Метрики: ROC-AUC: 0.941 • Инференс: ~7.4 мс • Обучено на 163 517 заемщиках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6 из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ПРЕДПИСЫВАЮЩИЙ ИИ • МАТЕМАТИЧЕСКАЯ ОПТИМИЗАЦИЯ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Calibri"/>
              </a:defRPr>
            </a:pPr>
            <a:r>
              <a:t>Математический оптимизатор реструктуризации: Google OR-Tools MILP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Мгновенный синтез спасительного графика (12 мс) с максимизацией NPV банка и соблюдением нормативов АРРФР</a:t>
            </a:r>
          </a:p>
        </p:txBody>
      </p:sp>
      <p:pic>
        <p:nvPicPr>
          <p:cNvPr id="4" name="Picture 3" descr="solve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6309360" cy="46817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572768"/>
            <a:ext cx="4251960" cy="1371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60920" y="1719072"/>
            <a:ext cx="475488" cy="4754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arkles_047857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1051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3568" y="1645920"/>
            <a:ext cx="34015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Calibri"/>
              </a:defRPr>
            </a:pPr>
            <a:r>
              <a:t>1. Сценарий А: Оптимум (Рекомендовано)</a:t>
            </a:r>
          </a:p>
          <a:p>
            <a:pPr>
              <a:spcBef>
                <a:spcPts val="25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Продление срока займа на +18 мес. Ежемесячный платеж снижается со ₸145 000 до ₸89 500 (-38%). КДН заемщика падает до 32% (комфортная зеленая зона АРРФР). Максимальная возвратность кредита для банка: NPV Recovery = 98.4%.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035808"/>
            <a:ext cx="4251960" cy="1371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3182112"/>
            <a:ext cx="475488" cy="47548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lendar_B45309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273552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3568" y="3108960"/>
            <a:ext cx="34015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45309"/>
                </a:solidFill>
                <a:latin typeface="Calibri"/>
              </a:defRPr>
            </a:pPr>
            <a:r>
              <a:t>2. Сценарий Б: Каникулы (Grace 90 дней)</a:t>
            </a:r>
          </a:p>
          <a:p>
            <a:pPr>
              <a:spcBef>
                <a:spcPts val="25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Полная заморозка платежей (₸0) на 3 месяца. Защищает заемщика при внезапных шоках (задержка оплаты заказчика, медицинские расходы), позволяя закрыть кассовый разрыв без штрафов, пени и падения в черные списки. NPV Recovery: 96.2%.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498848"/>
            <a:ext cx="4251960" cy="12984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4645152"/>
            <a:ext cx="475488" cy="47548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liders_1D4ED8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736592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73568" y="4572000"/>
            <a:ext cx="340156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t>3. Сценарий В: Грейс по основному долгу</a:t>
            </a:r>
          </a:p>
          <a:p>
            <a:pPr>
              <a:spcBef>
                <a:spcPts val="250"/>
              </a:spcBef>
              <a:defRPr sz="840">
                <a:solidFill>
                  <a:srgbClr val="0F172A"/>
                </a:solidFill>
                <a:latin typeface="Calibri"/>
              </a:defRPr>
            </a:pPr>
            <a:r>
              <a:t>Выплата только начисленных процентов (₸32 000 вместо ₸145 000) на 6 месяцев. Применяется при затяжном спаде доходов для предотвращения дефолта с последующим плавным возвратом к стандартному графику.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5870448"/>
            <a:ext cx="425196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5897880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47857"/>
                </a:solidFill>
                <a:latin typeface="Calibri"/>
              </a:defRPr>
            </a:pPr>
            <a:r>
              <a:t>⚡ Эффект: 12 мс вместо 5 дней • ₸1.4 млрд экономии капитала МСФО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8 из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АРХИТЕКТУРНЫЕ МОДУЛИ • РАЗДЕЛ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Calibri"/>
              </a:defRPr>
            </a:pPr>
            <a:r>
              <a:t>Связка ключевых сервисов: Psycho-Life &amp; Stalker Engine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Двухконтурная система: психометрическая детекция скрытого стресса и реактивный радар мониторинга 24/7</a:t>
            </a:r>
          </a:p>
        </p:txBody>
      </p:sp>
      <p:pic>
        <p:nvPicPr>
          <p:cNvPr id="4" name="Picture 3" descr="services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10728655" cy="221284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3877056"/>
            <a:ext cx="5266944" cy="96012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4005072"/>
            <a:ext cx="438912" cy="438912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rain_7E22CE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96512"/>
            <a:ext cx="25603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20" y="393192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7E22CE"/>
                </a:solidFill>
                <a:latin typeface="Calibri"/>
              </a:defRPr>
            </a:pPr>
            <a:r>
              <a:t>1. Psycho-Life Service (Психометрический анализатор)</a:t>
            </a:r>
          </a:p>
          <a:p>
            <a:pPr>
              <a:spcBef>
                <a:spcPts val="200"/>
              </a:spcBef>
              <a:defRPr sz="840">
                <a:solidFill>
                  <a:srgbClr val="0F172A"/>
                </a:solidFill>
                <a:latin typeface="Calibri"/>
              </a:defRPr>
            </a:pPr>
            <a:r>
              <a:t>Вычисляет невидимый в классических отчетах стресс заемщика: ночные сессии в ДБО (3 AM), экранное время на графике выплат, скорость падения остатка 7d и микрозаймы в МФО.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3877056"/>
            <a:ext cx="5266944" cy="960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27648" y="4005072"/>
            <a:ext cx="438912" cy="43891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ield-check_DC2626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096512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76288" y="393192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B91C1C"/>
                </a:solidFill>
                <a:latin typeface="Calibri"/>
              </a:defRPr>
            </a:pPr>
            <a:r>
              <a:t>2. Stalker Engine (Потоковый радар мониторинга 24/7)</a:t>
            </a:r>
          </a:p>
          <a:p>
            <a:pPr>
              <a:spcBef>
                <a:spcPts val="200"/>
              </a:spcBef>
              <a:defRPr sz="840">
                <a:solidFill>
                  <a:srgbClr val="0F172A"/>
                </a:solidFill>
                <a:latin typeface="Calibri"/>
              </a:defRPr>
            </a:pPr>
            <a:r>
              <a:t>Реактивный движок на .NET 8 и SignalR WebSockets. Непрерывно принимает телеметрию, ведет таймлайн событий клиента, поднимает алерт риск-офицеру и мгновенно триггерит солвер.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19472"/>
            <a:ext cx="10728655" cy="13898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" y="5074920"/>
            <a:ext cx="475488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parkles_475569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166360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4992624"/>
            <a:ext cx="978408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34155"/>
                </a:solidFill>
                <a:latin typeface="Calibri"/>
              </a:defRPr>
            </a:pPr>
            <a:r>
              <a:t>Авторское видение: почему программе потребовалось разделение на два модуля</a:t>
            </a:r>
          </a:p>
          <a:p>
            <a:pPr>
              <a:spcBef>
                <a:spcPts val="350"/>
              </a:spcBef>
              <a:defRPr sz="980" i="1">
                <a:solidFill>
                  <a:srgbClr val="475569"/>
                </a:solidFill>
                <a:latin typeface="Calibri"/>
              </a:defRPr>
            </a:pPr>
            <a:r>
              <a:t>«Чтобы кардинально улучшить работоспособность и скорость реакции моей программы, я осознал: нельзя опираться только на статичный скоринг, который пересчитывается раз в месяц. Кредитный риск живой — он зарождается задолго до просрочки, когда заемщик в панике не спит ночью и берет первые микрозаймы. Поэтому я разделил систему на два специализированных органа: Psycho-Life Service стал чувствительными «нервами», считывающими эмоционально-финансовый стресс в мобильном банке, а Stalker Engine — неусыпным «радаром», который 24/7 держит портфель на контроле и без секунды промедления передает эстафету оптимизатору реструктуризации».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9 из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ПСИХОМЕТРИЧЕСКИЙ АНАЛИЗ • DEEP BEHAVIORAL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Calibri"/>
              </a:defRPr>
            </a:pPr>
            <a:r>
              <a:t>Psycho-Life Service: Извлечение скрытого стресса из данных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Как паттерны бессонницы, тревожности в ДБО и микрозаймов меняют оценку кредитного риска</a:t>
            </a:r>
          </a:p>
        </p:txBody>
      </p:sp>
      <p:pic>
        <p:nvPicPr>
          <p:cNvPr id="4" name="Picture 3" descr="psycho_life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6309360" cy="46817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572768"/>
            <a:ext cx="4251960" cy="137160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60920" y="1719072"/>
            <a:ext cx="475488" cy="475488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rain_7E22CE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1051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3568" y="1645920"/>
            <a:ext cx="34015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7E22CE"/>
                </a:solidFill>
                <a:latin typeface="Calibri"/>
              </a:defRPr>
            </a:pPr>
            <a:r>
              <a:t>1. Считывание стресса без опросов</a:t>
            </a:r>
          </a:p>
          <a:p>
            <a:pPr>
              <a:spcBef>
                <a:spcPts val="25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Клиент не заполняет тесты. Сервис вычисляет 9 маркеров из обычного цифрового следа: входы в приложение в 3:00–5:00 утра (бессонница), зависание на экране графика (95 сек.), проверка баланса по 10 раз в день, спад трат на себя и микрозаймы в МФО.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035808"/>
            <a:ext cx="4251960" cy="1371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3182112"/>
            <a:ext cx="475488" cy="47548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zap_1D4ED8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273552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3568" y="3108960"/>
            <a:ext cx="34015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Calibri"/>
              </a:defRPr>
            </a:pPr>
            <a:r>
              <a:t>2. Влияние психологии на оценку риска</a:t>
            </a:r>
          </a:p>
          <a:p>
            <a:pPr>
              <a:spcBef>
                <a:spcPts val="25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Обычный скоринг считает клиента надежным (доход есть, просрочек нет). Но кросс-внимание нейросети [7×9] связывает падение остатка с ночной паникой. Результат: модель мгновенно поднимает риск дефолта с 1.3% до 84.2% за месяц до просрочки.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498848"/>
            <a:ext cx="4251960" cy="12984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4645152"/>
            <a:ext cx="475488" cy="4754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ield-check_047857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736592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73568" y="4572000"/>
            <a:ext cx="340156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Calibri"/>
              </a:defRPr>
            </a:pPr>
            <a:r>
              <a:t>3. Прозрачный XAI-диагноз для Банка</a:t>
            </a:r>
          </a:p>
          <a:p>
            <a:pPr>
              <a:spcBef>
                <a:spcPts val="250"/>
              </a:spcBef>
              <a:defRPr sz="840">
                <a:solidFill>
                  <a:srgbClr val="0F172A"/>
                </a:solidFill>
                <a:latin typeface="Calibri"/>
              </a:defRPr>
            </a:pPr>
            <a:r>
              <a:t>Риск-офицер банка видит реальную первопричину кризиса: «Стресс вызван внезапным медицинским шоком и кассовым разрывом, а не недобросовестностью заемщика». Это защищает банк от ошибок и позволяет предложить помощь вовремя.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5870448"/>
            <a:ext cx="425196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5897880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7E22CE"/>
                </a:solidFill>
                <a:latin typeface="Calibri"/>
              </a:defRPr>
            </a:pPr>
            <a:r>
              <a:t>⚡ Метрики: 9 психо-маркеров • ROC-AUC: 0.941 • 100% Privacy &amp; АРРФР Комплаенс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10 из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ПОТОКОВЫЙ РАДАР 24/7 • STREAMING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Calibri"/>
              </a:defRPr>
            </a:pPr>
            <a:r>
              <a:t>Stalker Engine: Потоковый радар стресс-событий на .NET 8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Круглосуточный мониторинг транзакций, мгновенный перехват аномалий и WebSockets-алерты риск-офицерам</a:t>
            </a:r>
          </a:p>
        </p:txBody>
      </p:sp>
      <p:pic>
        <p:nvPicPr>
          <p:cNvPr id="4" name="Picture 3" descr="stalker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6309360" cy="46817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572768"/>
            <a:ext cx="4251960" cy="1371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60920" y="1719072"/>
            <a:ext cx="475488" cy="4754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ield-check_DC2626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1051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3568" y="1645920"/>
            <a:ext cx="34015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Calibri"/>
              </a:defRPr>
            </a:pPr>
            <a:r>
              <a:t>1. Перехват 6 потоковых триггеров</a:t>
            </a:r>
          </a:p>
          <a:p>
            <a:pPr>
              <a:spcBef>
                <a:spcPts val="25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Радар в реальном времени ловит критические события: перевод в МФО (ΔRisk = +0.42), задержку зарплаты на 7+ дней (+0.35), обвал дохода &gt;30% (+0.38), перегрузку рассрочками BNPL (Kaspi/Halyk 0-0-24) и критическое обнуление остатка (&lt;1000 ₸) до платежа.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035808"/>
            <a:ext cx="425196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3182112"/>
            <a:ext cx="475488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zap_0F172A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273552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3568" y="3108960"/>
            <a:ext cx="34015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2. Реактивное ядро на .NET 8 &amp; SignalR</a:t>
            </a:r>
          </a:p>
          <a:p>
            <a:pPr>
              <a:spcBef>
                <a:spcPts val="25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Латентность обработки события &lt;15 миллисекунд. Заемщик автоматически ставится под надзор (IsUnderStalkerWatch = true), а через WebSockets-хаб StalkerHub алерт всплывает на мониторе риск-офицера без опроса базы данных (Zero Polling).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498848"/>
            <a:ext cx="4251960" cy="12984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4645152"/>
            <a:ext cx="475488" cy="4754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parkles_047857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736592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73568" y="4572000"/>
            <a:ext cx="340156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Calibri"/>
              </a:defRPr>
            </a:pPr>
            <a:r>
              <a:t>3. Двуязычные причины и STP-действие</a:t>
            </a:r>
          </a:p>
          <a:p>
            <a:pPr>
              <a:spcBef>
                <a:spcPts val="250"/>
              </a:spcBef>
              <a:defRPr sz="840">
                <a:solidFill>
                  <a:srgbClr val="0F172A"/>
                </a:solidFill>
                <a:latin typeface="Calibri"/>
              </a:defRPr>
            </a:pPr>
            <a:r>
              <a:t>Движок генерирует понятные причины на русском и казахском языках (RU / KZ) и готовое действие: перенос даты под зарплату, консолидация рассрочек или мгновенный вызов солвера OR-Tools для синтеза 3 вариантов реструктуризации.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5870448"/>
            <a:ext cx="425196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5897880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B91C1C"/>
                </a:solidFill>
                <a:latin typeface="Calibri"/>
              </a:defRPr>
            </a:pPr>
            <a:r>
              <a:t>⚡ Архитектура: .NET 8 WebApi • SignalR Hub • Clean Architecture • &lt;15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11 из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РАЗДЕЛ IV • СИМУЛЯЦИЯ И ВАЛИДАЦИЯ В РЕАЛЬНОМ ВРЕМЕНИ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Calibri"/>
              </a:defRPr>
            </a:pPr>
            <a:r>
              <a:t>Мультиагентный полигон: Синтетические боты и стресс-симуляция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Автономные цифровые двойники заемщиков Казахстана для безопасной валидации моделей и радара Stalker</a:t>
            </a:r>
          </a:p>
        </p:txBody>
      </p:sp>
      <p:pic>
        <p:nvPicPr>
          <p:cNvPr id="4" name="Picture 3" descr="agent_world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6309360" cy="46817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572768"/>
            <a:ext cx="4251960" cy="1371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60920" y="1719072"/>
            <a:ext cx="475488" cy="47548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pu_4338CA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1051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3568" y="1645920"/>
            <a:ext cx="34015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12E81"/>
                </a:solidFill>
                <a:latin typeface="Calibri"/>
              </a:defRPr>
            </a:pPr>
            <a:r>
              <a:t>1. Зачем созданы боты: Безопасный Sandbox</a:t>
            </a:r>
          </a:p>
          <a:p>
            <a:pPr>
              <a:spcBef>
                <a:spcPts val="250"/>
              </a:spcBef>
              <a:defRPr sz="840">
                <a:solidFill>
                  <a:srgbClr val="0F172A"/>
                </a:solidFill>
                <a:latin typeface="Calibri"/>
              </a:defRPr>
            </a:pPr>
            <a:r>
              <a:t>Внедрение превентивного реструктурирования невозможно тестировать на «живых» 100 000 клиентах банка без риска штрафов АРРФР. Созданный автономный полигон Agent-World разворачивает безопасную виртуальную среду, где тысячи симулированных агентов проживают реальные финансовые циклы.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035808"/>
            <a:ext cx="4251960" cy="1371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3182112"/>
            <a:ext cx="475488" cy="4754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_047857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273552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3568" y="3108960"/>
            <a:ext cx="34015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Calibri"/>
              </a:defRPr>
            </a:pPr>
            <a:r>
              <a:t>2. Архитектура: Archetypes &amp; RL Brain</a:t>
            </a:r>
          </a:p>
          <a:p>
            <a:pPr>
              <a:spcBef>
                <a:spcPts val="250"/>
              </a:spcBef>
              <a:defRPr sz="840">
                <a:solidFill>
                  <a:srgbClr val="0F172A"/>
                </a:solidFill>
                <a:latin typeface="Calibri"/>
              </a:defRPr>
            </a:pPr>
            <a:r>
              <a:t>Боты наделены реалистичными архетипами РК: IT-сеньор Арман (кассовые разрывы), маркетолог Жанна (BNPL 0-0-24, уязвимость) и инженер Санжар. Стейт-машина FinancialRLBrain генерирует 10 типов действий: от ночных сессий в ДБО до микрозаймов в МФО.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498848"/>
            <a:ext cx="4251960" cy="129844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4645152"/>
            <a:ext cx="475488" cy="4754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ield-check_DC2626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736592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73568" y="4572000"/>
            <a:ext cx="340156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Calibri"/>
              </a:defRPr>
            </a:pPr>
            <a:r>
              <a:t>3. Замкнутый контур с PyTorch &amp; Stalker</a:t>
            </a:r>
          </a:p>
          <a:p>
            <a:pPr>
              <a:spcBef>
                <a:spcPts val="250"/>
              </a:spcBef>
              <a:defRPr sz="840">
                <a:solidFill>
                  <a:srgbClr val="0F172A"/>
                </a:solidFill>
                <a:latin typeface="Calibri"/>
              </a:defRPr>
            </a:pPr>
            <a:r>
              <a:t>Каждый шаг симуляции (квант 2.5 сек) обновляет вектор 43 признаков и запускает инференс PyTorch Dual-Tower (&lt;15 мс). Всплеск риска мгновенно передается в .NET Stalker Hub по WebSockets и активирует Google OR-Tools для синтеза 3 графиков.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5870448"/>
            <a:ext cx="4251960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5897880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12E81"/>
                </a:solidFill>
                <a:latin typeface="Calibri"/>
              </a:defRPr>
            </a:pPr>
            <a:r>
              <a:t>⚡ Спецификация: 3 архетипа • 10 классов действий • PyTorch &lt;15 ms • 100% STP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12 из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РАЗДЕЛ IV • ЖИВОЙ ИНТЕРФЕЙС ПЛАТФОРМЫ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Терминал риск-офицера: 360° мониторинг и XAI-аудит заемщиков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Интерфейс платформы: портфельный радар, Neuro-Symbolic вердикт LLM и модальное окно глубокого аудита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26464"/>
            <a:ext cx="3364992" cy="25237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_radar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463040"/>
            <a:ext cx="3291840" cy="24414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005072"/>
            <a:ext cx="3364992" cy="1883664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4096512"/>
            <a:ext cx="384048" cy="38404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r-chart_047857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9664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4059936"/>
            <a:ext cx="2743200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Calibri"/>
              </a:defRPr>
            </a:pPr>
            <a:r>
              <a:t>1. Радар заемщика &amp; Паспорт 360°</a:t>
            </a:r>
          </a:p>
          <a:p>
            <a:pPr>
              <a:spcBef>
                <a:spcPts val="200"/>
              </a:spcBef>
              <a:defRPr sz="770">
                <a:solidFill>
                  <a:srgbClr val="0F172A"/>
                </a:solidFill>
                <a:latin typeface="Calibri"/>
              </a:defRPr>
            </a:pPr>
            <a:r>
              <a:t>• Шапка с логотипом: новый векторный ромб/радар RiskTwin и навигация 5 модулей.</a:t>
            </a:r>
            <a:br/>
            <a:r>
              <a:t>• Портфельные KPI: устойчивость 94.8%, 1 ранний сигнал, ₸14.2M сохраненных средств (+32% NPV).</a:t>
            </a:r>
            <a:br/>
            <a:r>
              <a:t>• Паспорт Армана (IT-Lead): 4-осевая лепестковая диаграмма, долг ₸2.46M, платеж ₸145k, риск PD = 1.0%.</a:t>
            </a:r>
            <a:br/>
            <a:r>
              <a:t>• Тепловая карта PyTorch: веса внимания Cross-Attention по 6 микро-транзакциям (α = 0.13…0.17).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26464"/>
            <a:ext cx="3364992" cy="25237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i_neuro_verd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1463040"/>
            <a:ext cx="3291840" cy="24963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407408" y="4005072"/>
            <a:ext cx="3364992" cy="188366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17136" y="4096512"/>
            <a:ext cx="384048" cy="3840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rain_4338CA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4169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6048" y="4059936"/>
            <a:ext cx="2743200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12E81"/>
                </a:solidFill>
                <a:latin typeface="Calibri"/>
              </a:defRPr>
            </a:pPr>
            <a:r>
              <a:t>2. Вердикт LLM &amp; Реестр ботов</a:t>
            </a:r>
          </a:p>
          <a:p>
            <a:pPr>
              <a:spcBef>
                <a:spcPts val="200"/>
              </a:spcBef>
              <a:defRPr sz="770">
                <a:solidFill>
                  <a:srgbClr val="0F172A"/>
                </a:solidFill>
                <a:latin typeface="Calibri"/>
              </a:defRPr>
            </a:pPr>
            <a:r>
              <a:t>• Neuro-Symbolic отчет (Ollama mistral-nemo): локальный инференс на RU / KZ.</a:t>
            </a:r>
            <a:br/>
            <a:r>
              <a:t>• Чему обучилась сеть: выявлена связь кассовых просадок с ночными сессиями в ДБО за 30 дней до дефолта.</a:t>
            </a:r>
            <a:br/>
            <a:r>
              <a:t>• Контрфактический прогноз: превентивная отсрочка на 1 месяц снизит риск дефолта до безопасных 15%.</a:t>
            </a:r>
            <a:br/>
            <a:r>
              <a:t>• Реестр заемщиков: мониторинг всех ботов (Арман, Жанна, Санжар) и автовызов алгоритма «План ИИ».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426464"/>
            <a:ext cx="3364992" cy="25237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i_audit_mod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1453896"/>
            <a:ext cx="2468880" cy="2468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83296" y="4005072"/>
            <a:ext cx="3364992" cy="188366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93024" y="4096512"/>
            <a:ext cx="384048" cy="38404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lert-triangle_DC2626_1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76" y="4169664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31936" y="4059936"/>
            <a:ext cx="2743200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B91C1C"/>
                </a:solidFill>
                <a:latin typeface="Calibri"/>
              </a:defRPr>
            </a:pPr>
            <a:r>
              <a:t>3. Модальный XAI-аудит (Жанна)</a:t>
            </a:r>
          </a:p>
          <a:p>
            <a:pPr>
              <a:spcBef>
                <a:spcPts val="200"/>
              </a:spcBef>
              <a:defRPr sz="760">
                <a:solidFill>
                  <a:srgbClr val="0F172A"/>
                </a:solidFill>
                <a:latin typeface="Calibri"/>
              </a:defRPr>
            </a:pPr>
            <a:r>
              <a:t>• Профиль уязвимости: риск PD подскочил до 15.1% (кассовый разрыв, доход ₸450k, долг ₸2.6M).</a:t>
            </a:r>
            <a:br/>
            <a:r>
              <a:t>• Хроника скрытых триггеров во времени (5 событий):</a:t>
            </a:r>
            <a:br/>
            <a:r>
              <a:t>  - День -28: исчерпание лимита карты до 82% (α = 0.22)</a:t>
            </a:r>
            <a:br/>
            <a:r>
              <a:t>  - День -21: 4 параллельные рассрочки BNPL 0-0-12 (α = 0.19)</a:t>
            </a:r>
            <a:br/>
            <a:r>
              <a:t>  - День -07: панический микрозайм в ATM ₸85k (α = 0.18)</a:t>
            </a:r>
            <a:br/>
            <a:r>
              <a:t>• Кнопка действия: мгновенный вызов «Подобрать план спасения (OR-Tools)».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43600"/>
            <a:ext cx="10716768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971032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30" b="1">
                <a:solidFill>
                  <a:srgbClr val="047857"/>
                </a:solidFill>
                <a:latin typeface="Calibri"/>
              </a:defRPr>
            </a:pPr>
            <a:r>
              <a:t>⚡ Технологический стек UI: Next.js 15 App Router • Tailwind CSS • Lucide Icons • Ollama Mistral-Nemo • WebSockets Live 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13 из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РАЗДЕЛ IV • ЖИВОЙ ИНТЕРФЕЙС ПЛАТФОРМЫ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3D Цифровой Психо-Двойник: Биоповеденческий аватар стресса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Интерактивная 3D-проекция эмоционального истощения заемщика (Жанна, 95% дистресс) на основе GMM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36192"/>
            <a:ext cx="598932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_stress_twin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81912"/>
            <a:ext cx="589788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03720" y="1536192"/>
            <a:ext cx="4553712" cy="138988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0" y="1664208"/>
            <a:ext cx="457200" cy="4572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rain_6D28D9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755648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16952" y="1591056"/>
            <a:ext cx="3749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581C87"/>
                </a:solidFill>
                <a:latin typeface="Calibri"/>
              </a:defRPr>
            </a:pPr>
            <a:r>
              <a:t>1. 3D-Аватар и пульс соматического стресса</a:t>
            </a:r>
          </a:p>
          <a:p>
            <a:pPr>
              <a:spcBef>
                <a:spcPts val="250"/>
              </a:spcBef>
              <a:defRPr sz="830">
                <a:solidFill>
                  <a:srgbClr val="0F172A"/>
                </a:solidFill>
                <a:latin typeface="Calibri"/>
              </a:defRPr>
            </a:pPr>
            <a:r>
              <a:t>3D-гуманоид на WebGL в реальном времени визуализирует степень финансового истощения клиента. При достижении индекса 95% (кейс маркетолога Жанны) аватар переходит в режим «Хроническое истощение и дефолтный коллапс» с учащением кардио-ритма до 124 BPM и фиолетовой неоновой индикацией перегруженных суставов.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017520"/>
            <a:ext cx="4553712" cy="138988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0" y="3145536"/>
            <a:ext cx="45720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r-chart_B45309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236976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16952" y="3072384"/>
            <a:ext cx="3749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92400E"/>
                </a:solidFill>
                <a:latin typeface="Calibri"/>
              </a:defRPr>
            </a:pPr>
            <a:r>
              <a:t>2. Объективные маркеры Home Credit 360°</a:t>
            </a:r>
          </a:p>
          <a:p>
            <a:pPr>
              <a:spcBef>
                <a:spcPts val="250"/>
              </a:spcBef>
              <a:defRPr sz="830">
                <a:solidFill>
                  <a:srgbClr val="0F172A"/>
                </a:solidFill>
                <a:latin typeface="Calibri"/>
              </a:defRPr>
            </a:pPr>
            <a:r>
              <a:t>Unsupervised GMM выявляет скрытые аномалии без субъективных опросов: задержки платежей (payment_delay_distress = 3.82 — критический маркер), перегрузку рассрочками BNPL (1.6) и паническое обналичивание кредиток в ATM (0.6). Банк фиксирует психологический кризис за 30–45 дней до фактической просрочки.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498848"/>
            <a:ext cx="4553712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40880" y="4626864"/>
            <a:ext cx="457200" cy="457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zap_047857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718304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16952" y="4553712"/>
            <a:ext cx="37490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47857"/>
                </a:solidFill>
                <a:latin typeface="Calibri"/>
              </a:defRPr>
            </a:pPr>
            <a:r>
              <a:t>3. Интерактивный симулятор шоков «Что если»</a:t>
            </a:r>
          </a:p>
          <a:p>
            <a:pPr>
              <a:spcBef>
                <a:spcPts val="250"/>
              </a:spcBef>
              <a:defRPr sz="830">
                <a:solidFill>
                  <a:srgbClr val="0F172A"/>
                </a:solidFill>
                <a:latin typeface="Calibri"/>
              </a:defRPr>
            </a:pPr>
            <a:r>
              <a:t>Интерфейс позволяет в 1 клик протестировать устойчивость заемщика к стресс-шокам: задержка зарплаты (+10 дней), паника в ATM (₸150 000 с кредитки) или сбой автоплатежа. Кнопка «Стабилизация» мгновенно запускает OR-Tools для возврата аватара в 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5888736"/>
            <a:ext cx="4553712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5916168"/>
            <a:ext cx="43708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19" b="1">
                <a:solidFill>
                  <a:srgbClr val="581C87"/>
                </a:solidFill>
                <a:latin typeface="Calibri"/>
              </a:defRPr>
            </a:pPr>
            <a:r>
              <a:t>⚡ Технологии: Three.js WebGL 3D • Unsupervised GMM • 163 517 анкет Home Credit • &lt;15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14 из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РАЗДЕЛ IV • ЖИВОЙ ИНТЕРФЕЙС ПЛАТФОРМЫ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Стресс-тестирование: Интерактивное моделирование шоков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Сценарный симулятор кассовых разрывов заемщика на 6 месяцев с автовызовом превентивного спасения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36192"/>
            <a:ext cx="626364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_stress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81912"/>
            <a:ext cx="61722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78040" y="1536192"/>
            <a:ext cx="4279392" cy="13898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0" y="1664208"/>
            <a:ext cx="457200" cy="457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rs_047857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55648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91272" y="1591056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47857"/>
                </a:solidFill>
                <a:latin typeface="Calibri"/>
              </a:defRPr>
            </a:pPr>
            <a:r>
              <a:t>1. Ползунки стресс-шоков в реальном времени</a:t>
            </a:r>
          </a:p>
          <a:p>
            <a:pPr>
              <a:spcBef>
                <a:spcPts val="250"/>
              </a:spcBef>
              <a:defRPr sz="830">
                <a:solidFill>
                  <a:srgbClr val="0F172A"/>
                </a:solidFill>
                <a:latin typeface="Calibri"/>
              </a:defRPr>
            </a:pPr>
            <a:r>
              <a:t>Риск-офицер может моделировать стресс-сценарии для любого заемщика: обвал зарплаты (-10%…-50%), займы в сторонних МФО (+₸300 000) и внезапные медицинские/бытовые расходы (до ₸400 000). Система на лету пересчитывает коэффициент долговой нагрузки (КДН = 44% — зона напряжения).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3017520"/>
            <a:ext cx="4279392" cy="13898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3145536"/>
            <a:ext cx="45720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r-chart_0F172A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236976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91272" y="3072384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2. Динамический прогноз подушки (Cash Runway)</a:t>
            </a:r>
          </a:p>
          <a:p>
            <a:pPr>
              <a:spcBef>
                <a:spcPts val="250"/>
              </a:spcBef>
              <a:defRPr sz="830">
                <a:solidFill>
                  <a:srgbClr val="0F172A"/>
                </a:solidFill>
                <a:latin typeface="Calibri"/>
              </a:defRPr>
            </a:pPr>
            <a:r>
              <a:t>Вместо запаздывающего ретроспективного скоринга платформа строит прогноз кривой ликвидности на 180 дней вперед. Банк заранее видит момент кассового разрыва: при шоке подушка исчерпывается за 45 дней, приводя к дефолту на 2-м месяце. Платформа упреждает дефолт до его наступления.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4498848"/>
            <a:ext cx="4279392" cy="1325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4626864"/>
            <a:ext cx="45720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parkles_B45309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4718304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91272" y="4553712"/>
            <a:ext cx="34747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92400E"/>
                </a:solidFill>
                <a:latin typeface="Calibri"/>
              </a:defRPr>
            </a:pPr>
            <a:r>
              <a:t>3. Кнопка «ИИ-подбор спасительного сценария»</a:t>
            </a:r>
          </a:p>
          <a:p>
            <a:pPr>
              <a:spcBef>
                <a:spcPts val="250"/>
              </a:spcBef>
              <a:defRPr sz="830">
                <a:solidFill>
                  <a:srgbClr val="0F172A"/>
                </a:solidFill>
                <a:latin typeface="Calibri"/>
              </a:defRPr>
            </a:pPr>
            <a:r>
              <a:t>Одно нажатие на кнопку передает смоделированный стресс-вектор в Google OR-Tools MILP. Менее чем за 15 мс алгоритм синтезирует 3 варианта реструктуризации с КДН ≤ 50% и мгновенно отправляет готовый спасительный оффер в мобильное приложение клиента.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5888736"/>
            <a:ext cx="4279392" cy="40233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5916168"/>
            <a:ext cx="40965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19" b="1">
                <a:solidFill>
                  <a:srgbClr val="047857"/>
                </a:solidFill>
                <a:latin typeface="Calibri"/>
              </a:defRPr>
            </a:pPr>
            <a:r>
              <a:t>⚡ Возможности: Сценарный стресс-тест • КДН ≤ 50% • Cash Runway 180 дней • STP-решение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15 из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СКВОЗНОЙ КЕЙС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Сквозной кейс: от скрытого стресса до мгновенного решения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Как RiskTwin спасает надежного заемщика Армана (IT-Сеньор, Алматы) от сползания в дефолт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10789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10512"/>
            <a:ext cx="50292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r_059669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1915668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1719072"/>
            <a:ext cx="44805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Calibri"/>
              </a:defRPr>
            </a:pPr>
            <a:r>
              <a:t>Шаг 1: Исходное состояние (Зеленая зона)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  <a:latin typeface="Calibri"/>
              </a:defRPr>
            </a:pPr>
            <a:r>
              <a:t>Доход: ₸1 200 000 | Долг: ₸4 200 000 | Платеж: ₸145 000. Базовый скоринг 1.3% (Класс AAA). Банк считает клиента абсолютно надежным.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486400" cy="1078992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953512"/>
            <a:ext cx="502920" cy="50292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lert-triangle_E11D48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3058668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2862072"/>
            <a:ext cx="44805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Шаг 2: Внезапный шок (Стресс-тест)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  <a:latin typeface="Calibri"/>
              </a:defRPr>
            </a:pPr>
            <a:r>
              <a:t>Задержка расчета от зарубежного заказчика на 14 дней + непредвиденные медицинские расходы. Традиционный банк слеп (срок платежа еще не наступил).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486400" cy="107899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096512"/>
            <a:ext cx="50292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ell_D97706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4201668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54480" y="4005072"/>
            <a:ext cx="44805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Шаг 3: Раннее срабатывание RiskTwin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  <a:latin typeface="Calibri"/>
              </a:defRPr>
            </a:pPr>
            <a:r>
              <a:t>Нейросеть фиксирует скрытый стресс по ночным входам в ДБО и падению медианного баланса. Модель вычисляет риск кассового разрыва за 30 дней.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5486400" cy="10789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5239512"/>
            <a:ext cx="50292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ield-check_059669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" y="5344668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54480" y="5148072"/>
            <a:ext cx="44805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Calibri"/>
              </a:defRPr>
            </a:pPr>
            <a:r>
              <a:t>Шаг 4: Алгоритмическое спасение (OR-Tools)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  <a:latin typeface="Calibri"/>
              </a:defRPr>
            </a:pPr>
            <a:r>
              <a:t>Решатель за 12ms формирует соглашение: продление срока на 18 мес., платеж снижается со ₸145 000 до ₸89 500. Кредит спасен, провизии не создаются.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1645920"/>
            <a:ext cx="498348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ui_stress_simula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1691640"/>
            <a:ext cx="4892040" cy="4434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16 из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РАЗДЕЛ IV • ЖИВОЙ ИНТЕРФЕЙС ПЛАТФОРМЫ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50" b="1">
                <a:solidFill>
                  <a:srgbClr val="0F172A"/>
                </a:solidFill>
                <a:latin typeface="Calibri"/>
              </a:defRPr>
            </a:pPr>
            <a:r>
              <a:t>Бесшовный клиентский путь (ДБО): реструктуризация в 1 клик за 30 секунд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Сквозной процесс: от раннего алерта риск-офицера до подписания нового договора по SMS в мобильном банке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26464"/>
            <a:ext cx="2633472" cy="24505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_portal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463040"/>
            <a:ext cx="256032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3931920"/>
            <a:ext cx="2633472" cy="195681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4005072"/>
            <a:ext cx="347472" cy="34747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lert-circle_DC2626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069080"/>
            <a:ext cx="219456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4128" y="3968496"/>
            <a:ext cx="210312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B91C1C"/>
                </a:solidFill>
                <a:latin typeface="Calibri"/>
              </a:defRPr>
            </a:pPr>
            <a:r>
              <a:t>Шаг 1: Алерт EWS &amp; Ожидание</a:t>
            </a:r>
          </a:p>
          <a:p>
            <a:pPr>
              <a:spcBef>
                <a:spcPts val="200"/>
              </a:spcBef>
              <a:defRPr sz="740">
                <a:solidFill>
                  <a:srgbClr val="0F172A"/>
                </a:solidFill>
                <a:latin typeface="Calibri"/>
              </a:defRPr>
            </a:pPr>
            <a:r>
              <a:t>• EWS перехватывает скрытый стресс Армана: задержка ЗП +14 дней, падение подушки -35%.</a:t>
            </a:r>
            <a:br/>
            <a:r>
              <a:t>• Модель OR-Tools синтезирует 3 щадящих графика (₸78k, ₸108k, ₸89k).</a:t>
            </a:r>
            <a:br/>
            <a:r>
              <a:t>• Смартфон клиента заблокирован: ожидает санкции риск-офицера банка.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426464"/>
            <a:ext cx="2633472" cy="24505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i_portal_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463040"/>
            <a:ext cx="2560320" cy="2377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346704" y="3931920"/>
            <a:ext cx="2633472" cy="195681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144" y="4005072"/>
            <a:ext cx="347472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ell_2563EB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4069080"/>
            <a:ext cx="219456" cy="219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22192" y="3968496"/>
            <a:ext cx="210312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  <a:latin typeface="Calibri"/>
              </a:defRPr>
            </a:pPr>
            <a:r>
              <a:t>Шаг 2: Санкция Kafka &amp; Push</a:t>
            </a:r>
          </a:p>
          <a:p>
            <a:pPr>
              <a:spcBef>
                <a:spcPts val="200"/>
              </a:spcBef>
              <a:defRPr sz="740">
                <a:solidFill>
                  <a:srgbClr val="0F172A"/>
                </a:solidFill>
                <a:latin typeface="Calibri"/>
              </a:defRPr>
            </a:pPr>
            <a:r>
              <a:t>• Риск-офицер одобряет план (Human-in-the-Loop) в 1 клик.</a:t>
            </a:r>
            <a:br/>
            <a:r>
              <a:t>• Событие публикуется в Kafka топик risk.restructuring.approved.v1.</a:t>
            </a:r>
            <a:br/>
            <a:r>
              <a:t>• На экране смартфона клиента мгновенно всплывает деликатный Push банка о персональной поддержке.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426464"/>
            <a:ext cx="2633472" cy="24505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i_portal_step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1463040"/>
            <a:ext cx="2560320" cy="23774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144768" y="3931920"/>
            <a:ext cx="2633472" cy="195681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4005072"/>
            <a:ext cx="347472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martphone_059669_1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216" y="4069080"/>
            <a:ext cx="219456" cy="2194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0256" y="3968496"/>
            <a:ext cx="210312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47857"/>
                </a:solidFill>
                <a:latin typeface="Calibri"/>
              </a:defRPr>
            </a:pPr>
            <a:r>
              <a:t>Шаг 3: Мобильная витрина 3 опций</a:t>
            </a:r>
          </a:p>
          <a:p>
            <a:pPr>
              <a:spcBef>
                <a:spcPts val="200"/>
              </a:spcBef>
              <a:defRPr sz="740">
                <a:solidFill>
                  <a:srgbClr val="0F172A"/>
                </a:solidFill>
                <a:latin typeface="Calibri"/>
              </a:defRPr>
            </a:pPr>
            <a:r>
              <a:t>• Клиент открывает мобильный банк и видит прозрачную витрину 3 решений:</a:t>
            </a:r>
            <a:br/>
            <a:r>
              <a:t>  1) Снижение платежа до ₸78 400</a:t>
            </a:r>
            <a:br/>
            <a:r>
              <a:t>  2) Каникулы 3 мес с платежом ₸0 (далее ₸108 200)</a:t>
            </a:r>
            <a:br/>
            <a:r>
              <a:t>  3) Оптимальный баланс ₸89 500</a:t>
            </a:r>
            <a:br/>
            <a:r>
              <a:t>• Клиент выбирает вариант «Каникулы».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1426464"/>
            <a:ext cx="2633472" cy="24505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ui_portal_step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1463040"/>
            <a:ext cx="2560320" cy="237744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942832" y="3931920"/>
            <a:ext cx="2633472" cy="1956816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34272" y="4005072"/>
            <a:ext cx="347472" cy="34747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-circle_15803D_12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8280" y="4069080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18320" y="3968496"/>
            <a:ext cx="210312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5803D"/>
                </a:solidFill>
                <a:latin typeface="Calibri"/>
              </a:defRPr>
            </a:pPr>
            <a:r>
              <a:t>Шаг 4: SMS-OTP и спасение</a:t>
            </a:r>
          </a:p>
          <a:p>
            <a:pPr>
              <a:spcBef>
                <a:spcPts val="200"/>
              </a:spcBef>
              <a:defRPr sz="740">
                <a:solidFill>
                  <a:srgbClr val="0F172A"/>
                </a:solidFill>
                <a:latin typeface="Calibri"/>
              </a:defRPr>
            </a:pPr>
            <a:r>
              <a:t>• Всплывает модальное окно смарт-подписания электронного допсоглашения.</a:t>
            </a:r>
            <a:br/>
            <a:r>
              <a:t>• Заемщик вводит SMS-код 7777 и подтверждает договор за 5 секунд.</a:t>
            </a:r>
            <a:br/>
            <a:r>
              <a:t>• График обновлен: 0 дней просрочки, статус Stage 1 сохранен, кредитная история в ГКБ чиста.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943600"/>
            <a:ext cx="11027664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71032"/>
            <a:ext cx="108447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30" b="1">
                <a:solidFill>
                  <a:srgbClr val="047857"/>
                </a:solidFill>
                <a:latin typeface="Calibri"/>
              </a:defRPr>
            </a:pPr>
            <a:r>
              <a:t>⚡ Итог внедрения: 0 звонков коллекторов • 0 визитов в отделение • 100% STP в ДБО • Подписание договора за 30 секунд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16 из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БИЗНЕС-ЭФФЕКТ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Экономический эффект для казахстанского банка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Расчет бизнес-отдачи от внедрения RiskTwin на портфель 100 000 розничных заемщиков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0" y="1828800"/>
            <a:ext cx="59436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ending-down_047857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084" y="1952244"/>
            <a:ext cx="347472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17830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47857"/>
                </a:solidFill>
                <a:latin typeface="Calibri"/>
              </a:defRPr>
            </a:pPr>
            <a:r>
              <a:t>-22%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Снижение дефолтов (NPL)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Удержание клиентов в Stage 1 (МСФО 9) за счет урегулирования до наступления 90 дней просрочки.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07040" y="1828800"/>
            <a:ext cx="59436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ins_047857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484" y="1952244"/>
            <a:ext cx="347472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17830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47857"/>
                </a:solidFill>
                <a:latin typeface="Calibri"/>
              </a:defRPr>
            </a:pPr>
            <a:r>
              <a:t>₸ 3.2 млрд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Экономия капитала банка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Объем высвобожденных провизий (резервов), которые банку не придется списывать из капитала.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4114800"/>
            <a:ext cx="59436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ercent_047857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084" y="4238244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" y="40690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47857"/>
                </a:solidFill>
                <a:latin typeface="Calibri"/>
              </a:defRPr>
            </a:pPr>
            <a:r>
              <a:t>-65%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Расходы на Collection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Автоматизация процесса спасения без раздувания штата операторов и судебных издержек.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07040" y="4114800"/>
            <a:ext cx="59436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eart-handshake_047857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0484" y="4238244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46520" y="40690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47857"/>
                </a:solidFill>
                <a:latin typeface="Calibri"/>
              </a:defRPr>
            </a:pPr>
            <a:r>
              <a:t>+40 п.п.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Прирост лояльности (NPS)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Банк воспринимается заемщиком как надежный партнер, а не карательный орган.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9 из 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ИНЖЕНЕРНАЯ ЗРЕЛОСТЬ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Технологический стек и готовность к внедрению (TRL 5–6)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Enterprise-архитектура микросервисов, готовая к интеграции в банковский контур и Open Banking РК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pu_059669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901952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47857"/>
                </a:solidFill>
                <a:latin typeface="Calibri"/>
              </a:defRPr>
            </a:pPr>
            <a:r>
              <a:t>AI &amp; Machine Learning Core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PyTorch: двухбашенная нейросеть Cross-Attention Net (веса обучены)</a:t>
            </a:r>
            <a:br/>
            <a:r>
              <a:t>• Google OR-Tools: решатель задач целочисленного линейного программирования (MILP)</a:t>
            </a:r>
            <a:br/>
            <a:r>
              <a:t>• Scikit-learn &amp; SHAP: конвейер предобработки и объяснимый ИИ (XAI)</a:t>
            </a:r>
            <a:br/>
            <a:r>
              <a:t>• Микросервисная задержка инференса: &lt; 10 миллисекунд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rver_059669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901952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08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47857"/>
                </a:solidFill>
                <a:latin typeface="Calibri"/>
              </a:defRPr>
            </a:pPr>
            <a:r>
              <a:t>Enterprise Core Backend (C# .NET 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ASP.NET Core 10: принципы Clean Architecture &amp; CQRS</a:t>
            </a:r>
            <a:br/>
            <a:r>
              <a:t>• Высокопроизводительные шины: gRPC для ML-инференса и SignalR для реал-тайм стриминга</a:t>
            </a:r>
            <a:br/>
            <a:r>
              <a:t>• База данных: PostgreSQL 16 с оптимизированными индексами и EF Core</a:t>
            </a:r>
            <a:br/>
            <a:r>
              <a:t>• Регуляторный аудит: хеширование цепочек событий SHA-256 для АРРФР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783080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de_059669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1901952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6968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47857"/>
                </a:solidFill>
                <a:latin typeface="Calibri"/>
              </a:defRPr>
            </a:pPr>
            <a:r>
              <a:t>Современный веб и мобильный фронтенд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231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• Next.js 16 (React 19) с серверным рендерингом (SSR) и мгновенным откликом</a:t>
            </a:r>
            <a:br/>
            <a:r>
              <a:t>• Tailwind CSS: строгий бело-зеленый банковский UI без визуального шума</a:t>
            </a:r>
            <a:br/>
            <a:r>
              <a:t>• Recharts &amp; Framer Motion: реактивные радары внимания и графики прогноза ликвидности</a:t>
            </a:r>
            <a:br/>
            <a:r>
              <a:t>• Готовность к интеграции в мобильные платформы ДБО (iOS / Android)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hield-check_047857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596128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25880" y="55321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Calibri"/>
              </a:defRPr>
            </a:pPr>
            <a:r>
              <a:t>Статус зрелости TRL 5–6: Полностью работающий сквозной прототип, проверенный на реальных структурах данных и готовый к пилоту в регуляторной песочнице Нацбанка РК.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10 из 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0040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ПЛАН ВНЕДРЕНИЯ &amp; ФИНАЛ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Дорожная карта пилотирования и масштабирования (6 месяцев)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  <a:latin typeface="Calibri"/>
              </a:defRPr>
            </a:pPr>
            <a:r>
              <a:t>План интеграции RiskTwin в казахстанский банковский сектор в партнерстве с АБРК и ГКБ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base_059669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901952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ЭТАП 1: МЕСЯЦЫ 1–2</a:t>
            </a:r>
          </a:p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Песочница &amp; Интеграция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• Подключение к API Государственного Кредитного Бюро (ГКБ)</a:t>
            </a:r>
            <a:br/>
            <a:r>
              <a:t>• Калибровка весов нейросети на обезличенном историческом портфеле банка-партнера</a:t>
            </a:r>
            <a:br/>
            <a:r>
              <a:t>• Прохождение комплаенс-проверки безопасности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_059669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901952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08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ЭТАП 2: МЕСЯЦЫ 3–4</a:t>
            </a:r>
          </a:p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A/B пилот (10 000 заемщиков)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• Запуск превентивного мониторинга на контрольной группе 10 000 кредитов</a:t>
            </a:r>
            <a:br/>
            <a:r>
              <a:t>• Оценка опережения дефолтов (метрики EWS за 30–45 дней)</a:t>
            </a:r>
            <a:br/>
            <a:r>
              <a:t>• Тестирование конверсии предложений реструктуризации в ДБО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783080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ocket_059669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1901952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6968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ЭТАП 3: МЕСЯЦЫ 5–6</a:t>
            </a:r>
          </a:p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Масштабирование в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231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• Полномасштабный релиз на весь розничный портфель банка</a:t>
            </a:r>
            <a:br/>
            <a:r>
              <a:t>• Бесшовное подписание соглашений через Open Banking API</a:t>
            </a:r>
            <a:br/>
            <a:r>
              <a:t>• Регуляторная отчетность в АРРФР со снижением резервов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983480"/>
            <a:ext cx="77724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ward_047857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" y="5152644"/>
            <a:ext cx="438912" cy="4389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74519" y="4828032"/>
            <a:ext cx="9326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47857"/>
                </a:solidFill>
                <a:latin typeface="Calibri"/>
              </a:defRPr>
            </a:pPr>
            <a:r>
              <a:t>RiskTwin: Сохраняем капитал банков Казахстана, защищая финансовое будущее заемщиков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Calibri"/>
              </a:defRPr>
            </a:pPr>
            <a:r>
              <a:t>Автор: Сулейменов Ж.С. | Карагандинский технический университет имени Абылкаса Сагинова (КарТУ) | Караганда — Астана, 2026</a:t>
            </a:r>
          </a:p>
          <a:p>
            <a:pPr>
              <a:spcBef>
                <a:spcPts val="200"/>
              </a:spcBef>
              <a:defRPr sz="1000" i="1">
                <a:solidFill>
                  <a:srgbClr val="64748B"/>
                </a:solidFill>
                <a:latin typeface="Calibri"/>
              </a:defRPr>
            </a:pPr>
            <a:r>
              <a:t>Готовы к демонстрации действующего прототипа и ответам на вопросы жюри.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RiskTwin • Республиканский конкурс АБРК &amp; ГКБ 2026 | Слайд 11 из 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_you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261104" y="594360"/>
            <a:ext cx="3657600" cy="347472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A7F3D0"/>
                </a:solidFill>
                <a:latin typeface="Calibri"/>
              </a:defRPr>
            </a:pPr>
            <a:r>
              <a:t>ФИНАЛ • ВОПРОСЫ И ОТВЕТЫ (Q&amp;A)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28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50" b="1">
                <a:solidFill>
                  <a:srgbClr val="6EE7B7"/>
                </a:solidFill>
                <a:latin typeface="Calibri"/>
              </a:defRPr>
            </a:pPr>
            <a:r>
              <a:t>RiskTwin: Интеллектуальный цифровой двойник кредитного риска и превентивной реструктуризации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06040"/>
            <a:ext cx="3291840" cy="2423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807208"/>
            <a:ext cx="502920" cy="5029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rain_34D399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2903220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3429000"/>
            <a:ext cx="29260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alibri"/>
              </a:defRPr>
            </a:pPr>
            <a:r>
              <a:t>НЕЙРОСЕТЕВОЙ ПЕРЕХВАТ 24/7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PyTorch &amp; Stalker Engine</a:t>
            </a:r>
          </a:p>
          <a:p>
            <a:pPr>
              <a:spcBef>
                <a:spcPts val="500"/>
              </a:spcBef>
              <a:defRPr sz="919">
                <a:solidFill>
                  <a:srgbClr val="E2E8F0"/>
                </a:solidFill>
                <a:latin typeface="Calibri"/>
              </a:defRPr>
            </a:pPr>
            <a:r>
              <a:t>Раннее обнаружение финансового и биоповеденческого стресса за 30–45 дней до первой просрочки по цепочке микро-транзакций и ночной активности в ДБО.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606040"/>
            <a:ext cx="3291840" cy="2423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26864" y="2807208"/>
            <a:ext cx="502920" cy="5029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pu_34D399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6" y="2903220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26864" y="3429000"/>
            <a:ext cx="29260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alibri"/>
              </a:defRPr>
            </a:pPr>
            <a:r>
              <a:t>МАТЕМАТИЧЕСКИЙ РЕШАТЕЛЬ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Google OR-Tools MILP</a:t>
            </a:r>
          </a:p>
          <a:p>
            <a:pPr>
              <a:spcBef>
                <a:spcPts val="500"/>
              </a:spcBef>
              <a:defRPr sz="919">
                <a:solidFill>
                  <a:srgbClr val="E2E8F0"/>
                </a:solidFill>
                <a:latin typeface="Calibri"/>
              </a:defRPr>
            </a:pPr>
            <a:r>
              <a:t>Мгновенный расчет 3 щадящих графиков с КДН ≤ 50% менее чем за 15 мс без участия кредитного комитета: отсрочка, каникулы и снижение платежа.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2606040"/>
            <a:ext cx="3291840" cy="2423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56448" y="2807208"/>
            <a:ext cx="502920" cy="5029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hield-check_34D399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460" y="2903220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56448" y="3429000"/>
            <a:ext cx="29260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alibri"/>
              </a:defRPr>
            </a:pPr>
            <a:r>
              <a:t>ЭКОНОМИКА И РЕГУЛЯТОР РК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₸1.4 млрд и комплаенс АРРФР</a:t>
            </a:r>
          </a:p>
          <a:p>
            <a:pPr>
              <a:spcBef>
                <a:spcPts val="500"/>
              </a:spcBef>
              <a:defRPr sz="919">
                <a:solidFill>
                  <a:srgbClr val="E2E8F0"/>
                </a:solidFill>
                <a:latin typeface="Calibri"/>
              </a:defRPr>
            </a:pPr>
            <a:r>
              <a:t>Удержание кредитов в Stage 1 (МСФО 9), нулевые резервные провизии, чистая кредитная история заемщика в ГКБ и готовность к стандарту TLAC 2026.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257800"/>
            <a:ext cx="10362895" cy="100584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349240"/>
            <a:ext cx="99056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🏛 Республиканский конкурс студенческих проектов и исследований в области ИИ и финтеха</a:t>
            </a:r>
          </a:p>
          <a:p>
            <a:pPr algn="ctr">
              <a:spcBef>
                <a:spcPts val="300"/>
              </a:spcBef>
              <a:defRPr sz="950">
                <a:solidFill>
                  <a:srgbClr val="A7F3D0"/>
                </a:solidFill>
                <a:latin typeface="Calibri"/>
              </a:defRPr>
            </a:pPr>
            <a:r>
              <a:t>Партнеры: АБРК • Государственное Кредитное Бюро (ГКБ) • КБТУ • NU • Bereke Bank • Mastercard • ISSAI</a:t>
            </a:r>
          </a:p>
          <a:p>
            <a:pPr algn="ctr">
              <a:spcBef>
                <a:spcPts val="300"/>
              </a:spcBef>
              <a:defRPr sz="950" b="1">
                <a:solidFill>
                  <a:srgbClr val="FEF08A"/>
                </a:solidFill>
                <a:latin typeface="Calibri"/>
              </a:defRPr>
            </a:pPr>
            <a:r>
              <a:t>💬 Готовы к вопросам членов жюри и демонстрации живого стенда платформы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